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0"/>
  </p:notesMasterIdLst>
  <p:handoutMasterIdLst>
    <p:handoutMasterId r:id="rId11"/>
  </p:handout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pos="211" userDrawn="1">
          <p15:clr>
            <a:srgbClr val="A4A3A4"/>
          </p15:clr>
        </p15:guide>
        <p15:guide id="7" orient="horz" pos="3385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  <p15:guide id="9" pos="7469" userDrawn="1">
          <p15:clr>
            <a:srgbClr val="A4A3A4"/>
          </p15:clr>
        </p15:guide>
        <p15:guide id="10" orient="horz" pos="1026" userDrawn="1">
          <p15:clr>
            <a:srgbClr val="A4A3A4"/>
          </p15:clr>
        </p15:guide>
        <p15:guide id="11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F7D00"/>
    <a:srgbClr val="C22E0C"/>
    <a:srgbClr val="FFED00"/>
    <a:srgbClr val="D5D2C2"/>
    <a:srgbClr val="831F82"/>
    <a:srgbClr val="DEDC00"/>
    <a:srgbClr val="00964F"/>
    <a:srgbClr val="009BAC"/>
    <a:srgbClr val="16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81"/>
    <p:restoredTop sz="94637"/>
  </p:normalViewPr>
  <p:slideViewPr>
    <p:cSldViewPr snapToGrid="0">
      <p:cViewPr varScale="1">
        <p:scale>
          <a:sx n="195" d="100"/>
          <a:sy n="195" d="100"/>
        </p:scale>
        <p:origin x="1760" y="176"/>
      </p:cViewPr>
      <p:guideLst>
        <p:guide orient="horz" pos="2160"/>
        <p:guide pos="3840"/>
        <p:guide orient="horz" pos="3634"/>
        <p:guide pos="438"/>
        <p:guide pos="7242"/>
        <p:guide pos="211"/>
        <p:guide orient="horz" pos="3385"/>
        <p:guide orient="horz" pos="3861"/>
        <p:guide pos="7469"/>
        <p:guide orient="horz" pos="1026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6676AAA-534B-B642-2E1E-FF85B56D37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6A1D632-4557-B3AA-C3AF-ABDD1BBCAB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5831D-EBBE-4A11-986B-21DDE9EDFC1C}" type="datetimeFigureOut">
              <a:rPr lang="de-DE" smtClean="0"/>
              <a:t>15.10.26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F94B67-B0E4-F7E1-D5F5-56ED7E9440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6FDEB3-8CBC-2BB9-1FB0-95FA4203FE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4F567-7DC8-4860-8446-35C67BE63CB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4492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E619-BF61-4444-8A30-4D976D0E5E7E}" type="datetimeFigureOut">
              <a:rPr lang="de-DE" smtClean="0"/>
              <a:t>15.10.26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AC6A5-7C75-4A9A-BD8E-BD0D3412605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59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AC6A5-7C75-4A9A-BD8E-BD0D3412605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8145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545" r="25498" b="1"/>
          <a:stretch/>
        </p:blipFill>
        <p:spPr>
          <a:xfrm>
            <a:off x="26639" y="2490937"/>
            <a:ext cx="5078761" cy="31321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04B5DE-528E-4B14-8528-A0AA26B8F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190" y="679890"/>
            <a:ext cx="5580000" cy="94847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/>
          </p:cNvCxnSpPr>
          <p:nvPr userDrawn="1"/>
        </p:nvCxnSpPr>
        <p:spPr>
          <a:xfrm>
            <a:off x="5355231" y="2490937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189" y="2492894"/>
            <a:ext cx="6342313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Präsentationstitel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6525A63-0B16-4326-A78B-61E1E149098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3" b="52378"/>
          <a:stretch/>
        </p:blipFill>
        <p:spPr>
          <a:xfrm flipH="1">
            <a:off x="9630375" y="5077460"/>
            <a:ext cx="2563200" cy="178054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DD3C7F-BB53-47B3-BB90-3B56F1A0D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82092" y="5087938"/>
            <a:ext cx="591300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cap="none" baseline="0"/>
            </a:lvl1pPr>
          </a:lstStyle>
          <a:p>
            <a:pPr lvl="0"/>
            <a:r>
              <a:rPr lang="de-DE" dirty="0"/>
              <a:t>Name, Titel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64479BB-1647-BFCC-D74D-EA996DF86E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8" name="Foliennummernplatzhalter 4">
            <a:extLst>
              <a:ext uri="{FF2B5EF4-FFF2-40B4-BE49-F238E27FC236}">
                <a16:creationId xmlns:a16="http://schemas.microsoft.com/office/drawing/2014/main" id="{DC8FA0A8-5CD3-CAF2-1C6F-25BD52527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20C9B0B2-364B-B5B9-09A9-1B0309B39C3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0" y="2183389"/>
            <a:ext cx="4790883" cy="313663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0558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570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pos="3454" userDrawn="1">
          <p15:clr>
            <a:srgbClr val="FBAE40"/>
          </p15:clr>
        </p15:guide>
        <p15:guide id="5" orient="horz" pos="35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 49">
            <a:extLst>
              <a:ext uri="{FF2B5EF4-FFF2-40B4-BE49-F238E27FC236}">
                <a16:creationId xmlns:a16="http://schemas.microsoft.com/office/drawing/2014/main" id="{3BAB15A7-57AE-4AA5-B08E-38C12D570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3023" y="1980196"/>
            <a:ext cx="10801350" cy="447299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685581C3-59B2-4343-98C4-91020C6EB263}"/>
              </a:ext>
            </a:extLst>
          </p:cNvPr>
          <p:cNvSpPr/>
          <p:nvPr userDrawn="1"/>
        </p:nvSpPr>
        <p:spPr>
          <a:xfrm>
            <a:off x="702974" y="1623305"/>
            <a:ext cx="10786051" cy="44561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BB566CE9-B87F-4169-92E7-0CD1FE273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9341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157AB65D-08FC-4509-8EFE-5946AF7847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9341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8504DFD6-22AC-4E97-9C38-CBCC12A35A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9341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6D8355-3BD0-43BC-9D7C-D76373E3AA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9925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37050F43-5393-47A9-9BED-A96E03D891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9925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1EFE8ED0-915F-49F2-B99F-3565CF0BD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39925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54B7DDD-4EC8-F398-71F8-596756650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03894C40-786F-CE5E-2268-0B9A087BC5C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23" name="Foliennummernplatzhalter 4">
            <a:extLst>
              <a:ext uri="{FF2B5EF4-FFF2-40B4-BE49-F238E27FC236}">
                <a16:creationId xmlns:a16="http://schemas.microsoft.com/office/drawing/2014/main" id="{D8319E2C-9CCB-6E1B-A38D-7663FDE10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5794D0F0-7285-B8AE-281E-DC3CD9D4EE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9342000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6E922C87-8CDB-5A7C-D6B4-50A5F8F559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7565" y="462992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C1C8C74C-994E-9021-6F62-71CACEAA48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8086" y="2312376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13DD4683-AE33-D9D4-992E-63FED6FAB8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3649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B7C067E9-D8EC-527D-F22A-9FBF1B1C38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06637" y="4629919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x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C6374083-B2E9-B087-2EED-F6D41BF392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Agenda bearbeiten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20C03A8-9640-242F-3870-35CD692D727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4CA1C370-E7CD-F20A-DC3C-2D55CD7BD0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3065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47A633AF-F00B-17F8-13B3-B5D8B4A2866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3065" y="2312375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0318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8" r="41230" b="1"/>
          <a:stretch/>
        </p:blipFill>
        <p:spPr>
          <a:xfrm>
            <a:off x="-13097" y="0"/>
            <a:ext cx="6092550" cy="68580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874340" y="3432369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062054" y="3432694"/>
            <a:ext cx="4518705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Abschnittstitel</a:t>
            </a:r>
          </a:p>
          <a:p>
            <a:pPr lvl="0"/>
            <a:r>
              <a:rPr lang="de-DE" dirty="0"/>
              <a:t>bearbeiten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3A65BA6-83D9-48A0-812F-C64B4045A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86588" y="482823"/>
            <a:ext cx="6107829" cy="589235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7B29AF-36A7-F359-BD0C-B7ECB3C04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368AB6-D3F6-6847-583D-7FBECFCDD0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2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B417B443-C717-DE1C-51E2-A1F371EABC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C8D99DD4-0436-4FC8-D0D6-28DE77060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8D89E6E-70A8-BF37-78E9-392BAE1FB2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9">
            <a:extLst>
              <a:ext uri="{FF2B5EF4-FFF2-40B4-BE49-F238E27FC236}">
                <a16:creationId xmlns:a16="http://schemas.microsoft.com/office/drawing/2014/main" id="{301C6C7C-F030-D039-FD42-EF0710638F7B}"/>
              </a:ext>
            </a:extLst>
          </p:cNvPr>
          <p:cNvSpPr txBox="1">
            <a:spLocks/>
          </p:cNvSpPr>
          <p:nvPr userDrawn="1"/>
        </p:nvSpPr>
        <p:spPr>
          <a:xfrm>
            <a:off x="710624" y="208468"/>
            <a:ext cx="11035427" cy="392688"/>
          </a:xfrm>
          <a:prstGeom prst="rect">
            <a:avLst/>
          </a:prstGeom>
        </p:spPr>
        <p:txBody>
          <a:bodyPr t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sz="3000" b="1" cap="none" dirty="0"/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6B9A0A94-AF94-A5AE-857C-AE146B3ACA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71EEDE55-E62D-236E-DA43-58A44B0F2C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DC7ED218-D524-00D6-4D50-A5AC12247E6B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058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F2E1F1-0D02-4959-AEA1-9B7C21B10922}"/>
              </a:ext>
            </a:extLst>
          </p:cNvPr>
          <p:cNvSpPr>
            <a:spLocks noGrp="1" noChangeAspect="1"/>
          </p:cNvSpPr>
          <p:nvPr>
            <p:ph sz="quarter" idx="14"/>
          </p:nvPr>
        </p:nvSpPr>
        <p:spPr>
          <a:xfrm>
            <a:off x="695325" y="1628775"/>
            <a:ext cx="10801350" cy="47879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6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 sz="1800"/>
              <a:t>Aufzählung</a:t>
            </a:r>
          </a:p>
          <a:p>
            <a:pPr lvl="2"/>
            <a:r>
              <a:rPr lang="de-DE" sz="1600"/>
              <a:t>Aufzählung</a:t>
            </a:r>
            <a:endParaRPr lang="de-DE" sz="1800"/>
          </a:p>
          <a:p>
            <a:pPr lvl="2"/>
            <a:endParaRPr lang="de-DE" sz="1800"/>
          </a:p>
          <a:p>
            <a:pPr lvl="1"/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E710D1FC-33EB-5F62-730E-709B705D2A4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0EDD0381-30D2-5D27-E65E-5F0B589AA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A2AA24-B1FD-5BE3-D341-4D4CF866B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808313F5-BC07-8F6B-D6BE-2AF768C10F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3BEBF174-4D7E-A5C7-2833-845F10D84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AC8E13F-C99D-B80E-D1EB-3976E4190929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81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406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C032E68A-A5F8-4F95-BE23-6A1FEBF5EA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1" t="17394" r="25497"/>
          <a:stretch/>
        </p:blipFill>
        <p:spPr>
          <a:xfrm>
            <a:off x="6843427" y="1955342"/>
            <a:ext cx="4653248" cy="417050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63D0DF3-6E23-4737-816E-1F39793DA13F}"/>
              </a:ext>
            </a:extLst>
          </p:cNvPr>
          <p:cNvCxnSpPr>
            <a:cxnSpLocks/>
          </p:cNvCxnSpPr>
          <p:nvPr userDrawn="1"/>
        </p:nvCxnSpPr>
        <p:spPr>
          <a:xfrm>
            <a:off x="6243546" y="1659138"/>
            <a:ext cx="0" cy="414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81573B5D-7068-44A9-BD10-AF91C542662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534468" y="1628775"/>
            <a:ext cx="4624387" cy="41703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23AB248-A58E-44A7-9C3A-41D8DDB3B6F6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5276160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Aufzählung</a:t>
            </a:r>
          </a:p>
          <a:p>
            <a:pPr lvl="2"/>
            <a:r>
              <a:rPr lang="de-DE"/>
              <a:t>Aufzählung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B37FCF9-12DC-4309-B18D-884BD5D83F29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16200000">
            <a:off x="5205850" y="2504121"/>
            <a:ext cx="2092325" cy="341632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lvl1pPr marL="0" indent="0" algn="r">
              <a:buNone/>
              <a:defRPr sz="18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50DB9C2F-391B-8AB1-F0C2-FD65D2E9DC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64C625DA-61BE-7DDE-23F1-B7C934AC6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A53E60-99B7-74FB-34F3-F2751302C6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8FA2E1A3-695C-C7B5-78F0-40A987ED6E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1E394535-7D62-0C15-1253-335587D3DE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9F9C1EEA-148F-E0E5-538D-F0AA56AB923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33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57A037FA-4745-4823-8F05-D6905FB92A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5" r="27896" b="-1"/>
          <a:stretch/>
        </p:blipFill>
        <p:spPr>
          <a:xfrm>
            <a:off x="7233717" y="1905001"/>
            <a:ext cx="4255077" cy="3865328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3251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3251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251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702916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Aufzählung</a:t>
            </a:r>
          </a:p>
          <a:p>
            <a:pPr lvl="2"/>
            <a:r>
              <a:rPr lang="de-DE"/>
              <a:t>Aufzählung</a:t>
            </a: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9754CBCD-F31D-8623-7DCE-33A945F090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55888A9E-D475-4CFF-BBD6-880C3F14E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91A056-821D-DF40-720E-F0EC6EA376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9C952C0F-BD5E-AA40-3294-1F84585615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C982E1D8-C57F-C526-C24A-E35704619F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3CCB9892-3932-F916-3B4C-1D9CC045D25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65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6C498BF1-9730-48F9-B608-033160885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5" r="27896" b="-1"/>
          <a:stretch/>
        </p:blipFill>
        <p:spPr>
          <a:xfrm>
            <a:off x="7245137" y="1905001"/>
            <a:ext cx="4255077" cy="386532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7A037FA-4745-4823-8F05-D6905FB92A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5" r="27896" b="-1"/>
          <a:stretch/>
        </p:blipFill>
        <p:spPr>
          <a:xfrm>
            <a:off x="996527" y="1905001"/>
            <a:ext cx="4255077" cy="3865328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532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5" name="Bildplatzhalter 5">
            <a:extLst>
              <a:ext uri="{FF2B5EF4-FFF2-40B4-BE49-F238E27FC236}">
                <a16:creationId xmlns:a16="http://schemas.microsoft.com/office/drawing/2014/main" id="{6D101ECF-B33E-4877-9934-905496B4FD3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937375" y="1628775"/>
            <a:ext cx="4254500" cy="33768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532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7545F24-CEF5-4C07-B5BF-74A54EC87B0E}"/>
              </a:ext>
            </a:extLst>
          </p:cNvPr>
          <p:cNvSpPr>
            <a:spLocks noChangeAspect="1"/>
          </p:cNvSpPr>
          <p:nvPr/>
        </p:nvSpPr>
        <p:spPr>
          <a:xfrm>
            <a:off x="6936734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32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2346BE-4625-4F22-B8EC-FBC04E0518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737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8D57A5E-1C9B-8EB5-68B4-AE98F59397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38CF3F62-9E31-C8F7-49DB-9095373E6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89DC535-3E75-83E4-44D8-CAA39E6C12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89D09D48-0BAE-AAC9-EB0F-2D662F899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D3E1870-0E92-0896-9AD3-8B1690CDF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A1D4DE7-4566-3924-561A-F8226287C1C6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586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1831" y="1980196"/>
            <a:ext cx="10801350" cy="447299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5"/>
            <a:ext cx="10785475" cy="44270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59A2F5D1-4E52-C7E3-9C92-024C2B20368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0D54374A-EF6C-C0A7-3D9C-275EFACE0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43A6605-81C1-D2B9-4833-C2F8940BC1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E8B946F8-1388-812E-0B7B-19198ACE13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71232BDC-9AF5-DABA-5306-061112D101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0FE13156-DA66-E95B-BF89-F13B0F1BC1D2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938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44620" b="1081"/>
          <a:stretch/>
        </p:blipFill>
        <p:spPr>
          <a:xfrm>
            <a:off x="1121831" y="1980196"/>
            <a:ext cx="5963988" cy="447299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4"/>
            <a:ext cx="5963988" cy="44729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FF83034-A795-A8BE-9894-7798CD34179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D4B6500C-A010-E993-C4F9-A952EC9FC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246F10E-6F0A-E85F-BD0F-9AD8AD6728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E0FDA4DB-DF14-43C4-7BBA-F01F414B5D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04180CBA-44A1-EA52-C04C-05C92DFB14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8D4F563-9CCD-BDBA-1D5C-7AB85AA70BEA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908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,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26160" b="1081"/>
          <a:stretch/>
        </p:blipFill>
        <p:spPr>
          <a:xfrm>
            <a:off x="1121830" y="1980196"/>
            <a:ext cx="7951985" cy="447299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4"/>
            <a:ext cx="7951986" cy="44729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4048D4D-9C0E-9226-BA9E-0957ADE7414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7" name="Foliennummernplatzhalter 4">
            <a:extLst>
              <a:ext uri="{FF2B5EF4-FFF2-40B4-BE49-F238E27FC236}">
                <a16:creationId xmlns:a16="http://schemas.microsoft.com/office/drawing/2014/main" id="{C83DE724-5DD9-0F65-765B-F8FA22843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9E51179-4A24-BAAA-2EEA-5CB74BF3BC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DFAFAADD-A73B-F1C6-C29B-FBFD45E856F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3AF000F1-BA57-FAC5-BACE-5334972A07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6C4ACED-FAC5-2906-CA1D-49F02A5304E6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49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, 16:9 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26160" b="1081"/>
          <a:stretch/>
        </p:blipFill>
        <p:spPr>
          <a:xfrm>
            <a:off x="2102861" y="1895775"/>
            <a:ext cx="8118100" cy="456643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692230" y="1628773"/>
            <a:ext cx="8118101" cy="44820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FFA4077F-B2ED-566C-0334-5FE8C23B9AE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4DE5FA16-EF79-FF18-4E44-A605182A2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BCA3027-83F2-88BC-6921-F0ACA60458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5B809F78-2764-C9EE-14CE-4F87CCA899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C3EF42A-9648-EF5E-86E4-63F537292A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71CF173C-F24D-9782-C6ED-750B5CEA80B3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861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BC3FE31-E2C6-9443-8841-FB40252E9D0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EFB9660-8374-3228-CB56-A9FD214469B8}"/>
              </a:ext>
            </a:extLst>
          </p:cNvPr>
          <p:cNvSpPr/>
          <p:nvPr userDrawn="1"/>
        </p:nvSpPr>
        <p:spPr>
          <a:xfrm>
            <a:off x="613834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B6C40A7-DC20-6E47-3852-CB0BAD767A25}"/>
              </a:ext>
            </a:extLst>
          </p:cNvPr>
          <p:cNvCxnSpPr>
            <a:cxnSpLocks/>
          </p:cNvCxnSpPr>
          <p:nvPr userDrawn="1"/>
        </p:nvCxnSpPr>
        <p:spPr>
          <a:xfrm>
            <a:off x="710624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CD9E848-7371-3907-48B0-3B079CB92308}"/>
              </a:ext>
            </a:extLst>
          </p:cNvPr>
          <p:cNvCxnSpPr>
            <a:cxnSpLocks/>
          </p:cNvCxnSpPr>
          <p:nvPr userDrawn="1"/>
        </p:nvCxnSpPr>
        <p:spPr>
          <a:xfrm>
            <a:off x="4390565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E7EF4F2D-B42E-A374-C3FE-200848ADF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567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  <a:p>
            <a:pPr lvl="0"/>
            <a:endParaRPr lang="de-DE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6E5C804A-160B-AC4E-54E7-09F1A1C84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9500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6A59546-35ED-E2C6-6F6C-784E608883DF}"/>
              </a:ext>
            </a:extLst>
          </p:cNvPr>
          <p:cNvSpPr/>
          <p:nvPr userDrawn="1"/>
        </p:nvSpPr>
        <p:spPr>
          <a:xfrm>
            <a:off x="4383635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98597E2-E0F9-02EF-D088-A460B046E3E8}"/>
              </a:ext>
            </a:extLst>
          </p:cNvPr>
          <p:cNvCxnSpPr>
            <a:cxnSpLocks/>
          </p:cNvCxnSpPr>
          <p:nvPr userDrawn="1"/>
        </p:nvCxnSpPr>
        <p:spPr>
          <a:xfrm>
            <a:off x="4484744" y="2527002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F2A6CF1C-EF2E-89E7-28E0-0EF17BC706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47872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  <a:p>
            <a:pPr lvl="0"/>
            <a:endParaRPr lang="de-DE"/>
          </a:p>
        </p:txBody>
      </p:sp>
      <p:sp>
        <p:nvSpPr>
          <p:cNvPr id="32" name="Textplatzhalter 25">
            <a:extLst>
              <a:ext uri="{FF2B5EF4-FFF2-40B4-BE49-F238E27FC236}">
                <a16:creationId xmlns:a16="http://schemas.microsoft.com/office/drawing/2014/main" id="{D171C924-7B6D-C913-F20F-214851F38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9818" y="2860674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F73F2C6-56EC-D26F-6B6B-579C3669E36B}"/>
              </a:ext>
            </a:extLst>
          </p:cNvPr>
          <p:cNvSpPr/>
          <p:nvPr userDrawn="1"/>
        </p:nvSpPr>
        <p:spPr>
          <a:xfrm>
            <a:off x="8154470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30A903C-91B4-A8E6-1322-E78F99998903}"/>
              </a:ext>
            </a:extLst>
          </p:cNvPr>
          <p:cNvCxnSpPr>
            <a:cxnSpLocks/>
          </p:cNvCxnSpPr>
          <p:nvPr userDrawn="1"/>
        </p:nvCxnSpPr>
        <p:spPr>
          <a:xfrm>
            <a:off x="8251260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platzhalter 22">
            <a:extLst>
              <a:ext uri="{FF2B5EF4-FFF2-40B4-BE49-F238E27FC236}">
                <a16:creationId xmlns:a16="http://schemas.microsoft.com/office/drawing/2014/main" id="{90661A22-D1B8-F5BC-C7F5-ED9350254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0203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  <a:p>
            <a:pPr lvl="0"/>
            <a:endParaRPr lang="de-DE"/>
          </a:p>
        </p:txBody>
      </p: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26CB9107-D74C-5B9D-E29A-359960340E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36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45" name="Fußzeilenplatzhalter 4">
            <a:extLst>
              <a:ext uri="{FF2B5EF4-FFF2-40B4-BE49-F238E27FC236}">
                <a16:creationId xmlns:a16="http://schemas.microsoft.com/office/drawing/2014/main" id="{936879A0-DF07-CF92-4FD4-C5C3BABB7AB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46" name="Foliennummernplatzhalter 4">
            <a:extLst>
              <a:ext uri="{FF2B5EF4-FFF2-40B4-BE49-F238E27FC236}">
                <a16:creationId xmlns:a16="http://schemas.microsoft.com/office/drawing/2014/main" id="{A396AEBE-BB93-8015-082A-0F6357EC5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A4FBCDB-79E9-38AB-7F97-74B0D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52D97168-E314-4A5F-2C23-50473C6FC9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A84831E6-0F33-E144-CEB1-031ED162D0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B320B70-D457-59BF-DB2A-8D351F89ED4D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875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fik 29">
            <a:extLst>
              <a:ext uri="{FF2B5EF4-FFF2-40B4-BE49-F238E27FC236}">
                <a16:creationId xmlns:a16="http://schemas.microsoft.com/office/drawing/2014/main" id="{76F38AF0-5706-4D55-A175-C98717F06B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1" t="993" r="-299" b="1079"/>
          <a:stretch/>
        </p:blipFill>
        <p:spPr>
          <a:xfrm>
            <a:off x="1056308" y="1917355"/>
            <a:ext cx="3147393" cy="3852974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A2F3BFD3-8D4D-4B8A-BC55-82786DC0AB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1" t="993" r="-299" b="1079"/>
          <a:stretch/>
        </p:blipFill>
        <p:spPr>
          <a:xfrm>
            <a:off x="8383098" y="1917355"/>
            <a:ext cx="3147393" cy="3852974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775CEEA8-A3A1-41F8-AFE4-1796A77FFC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1" t="993" r="-299" b="1079"/>
          <a:stretch/>
        </p:blipFill>
        <p:spPr>
          <a:xfrm>
            <a:off x="4706881" y="1917355"/>
            <a:ext cx="3147393" cy="3852974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3792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D2BB6039-B707-4D70-9B22-E18BEBE4E244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363150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858490E9-6584-471A-BFC3-3990D3608239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8030549" y="1641129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73BDC7A5-5417-A455-A850-23564B1A39C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DDB4465-56A2-F81C-E2DA-4F08215E3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3B0E78E-0A1D-0AD7-7052-7A54FB61AB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3661C4F5-D792-E4CA-23EC-8B29432037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F0D6241B-048B-CF9A-342D-5C557A619C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57D597C-2976-76BE-EC33-198219AA6E0F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641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EA07E467-F7B8-43C9-96FC-EFCC9C55D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018633" y="1876370"/>
            <a:ext cx="4983492" cy="2064953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4952" y="163385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E861926D-4695-40F6-BB3B-C98F7FB87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018633" y="4387853"/>
            <a:ext cx="4983492" cy="2064953"/>
          </a:xfrm>
          <a:prstGeom prst="rect">
            <a:avLst/>
          </a:prstGeom>
        </p:spPr>
      </p:pic>
      <p:sp>
        <p:nvSpPr>
          <p:cNvPr id="27" name="Bildplatzhalter 3">
            <a:extLst>
              <a:ext uri="{FF2B5EF4-FFF2-40B4-BE49-F238E27FC236}">
                <a16:creationId xmlns:a16="http://schemas.microsoft.com/office/drawing/2014/main" id="{435D3452-6748-4C56-A119-A26922486FA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04952" y="414533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75A97BE2-1FA3-4F0C-8D12-E3DCDE880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6514454" y="1871290"/>
            <a:ext cx="4983492" cy="2064953"/>
          </a:xfrm>
          <a:prstGeom prst="rect">
            <a:avLst/>
          </a:prstGeom>
        </p:spPr>
      </p:pic>
      <p:sp>
        <p:nvSpPr>
          <p:cNvPr id="29" name="Bildplatzhalter 3">
            <a:extLst>
              <a:ext uri="{FF2B5EF4-FFF2-40B4-BE49-F238E27FC236}">
                <a16:creationId xmlns:a16="http://schemas.microsoft.com/office/drawing/2014/main" id="{0F62BAF0-E5F0-492C-90D0-0B56C5E08980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200773" y="162877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6FA330D5-6EA4-4EFF-94A3-FAFBD731C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6514454" y="4382773"/>
            <a:ext cx="4983492" cy="2064953"/>
          </a:xfrm>
          <a:prstGeom prst="rect">
            <a:avLst/>
          </a:prstGeom>
        </p:spPr>
      </p:pic>
      <p:sp>
        <p:nvSpPr>
          <p:cNvPr id="31" name="Bildplatzhalter 3">
            <a:extLst>
              <a:ext uri="{FF2B5EF4-FFF2-40B4-BE49-F238E27FC236}">
                <a16:creationId xmlns:a16="http://schemas.microsoft.com/office/drawing/2014/main" id="{6414067F-71E4-4B56-99A2-B932DD842D9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200773" y="414025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98F4D0D-10EF-A8BD-FAC6-1E489620DB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04E1E2D0-1007-E499-2AED-801C1D1BA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94DAD7B-FD6B-579B-52E4-A88D02EEEC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06C58D4D-7572-BEBA-F663-02F2B2970F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22A39840-7040-DC4B-30F6-C62C9FEFB2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619B1568-19C3-4382-1E34-C3244D52D9B0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57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3871914" y="4425115"/>
            <a:ext cx="764857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3848101" y="2437295"/>
            <a:ext cx="7648574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3720900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1D545E1-DBD6-9726-CC38-B1C6ABB9D0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4" y="2436813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1" name="Bildplatzhalter 19">
            <a:extLst>
              <a:ext uri="{FF2B5EF4-FFF2-40B4-BE49-F238E27FC236}">
                <a16:creationId xmlns:a16="http://schemas.microsoft.com/office/drawing/2014/main" id="{910A2A80-2842-3262-4517-11ED166F3C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5324" y="4425115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2900" y="4551795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8201" y="4989752"/>
            <a:ext cx="7181850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A191056D-0C62-47F0-3DD7-759AA20FF0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33" name="Foliennummernplatzhalter 4">
            <a:extLst>
              <a:ext uri="{FF2B5EF4-FFF2-40B4-BE49-F238E27FC236}">
                <a16:creationId xmlns:a16="http://schemas.microsoft.com/office/drawing/2014/main" id="{C0755DE2-7C86-361D-3C1A-D6125376A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4060F0-28FD-A523-D224-9200449C7C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5998EFEE-AC7F-D6D1-D0ED-611795B181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B29113F-4A8A-3F06-128C-21B98F6BB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A757C539-AC87-6399-6308-A2564758FBDA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493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7EC2AD-B910-9D38-DAD6-8230D05BBC96}"/>
              </a:ext>
            </a:extLst>
          </p:cNvPr>
          <p:cNvSpPr/>
          <p:nvPr/>
        </p:nvSpPr>
        <p:spPr>
          <a:xfrm>
            <a:off x="3848101" y="2437295"/>
            <a:ext cx="7648574" cy="36333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FB6736E-280A-B902-A03E-6B73ABBA9B3A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01B76AC-0E6D-6A71-3C5A-7961C1F440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200" y="2436813"/>
            <a:ext cx="3136900" cy="3633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4" name="Textplatzhalter 29">
            <a:extLst>
              <a:ext uri="{FF2B5EF4-FFF2-40B4-BE49-F238E27FC236}">
                <a16:creationId xmlns:a16="http://schemas.microsoft.com/office/drawing/2014/main" id="{22A386C0-259C-B17A-6883-3B44913C09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15" name="Textplatzhalter 24">
            <a:extLst>
              <a:ext uri="{FF2B5EF4-FFF2-40B4-BE49-F238E27FC236}">
                <a16:creationId xmlns:a16="http://schemas.microsoft.com/office/drawing/2014/main" id="{35780F4A-423F-E1A8-755F-9333C90C52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17" name="Textplatzhalter 24">
            <a:extLst>
              <a:ext uri="{FF2B5EF4-FFF2-40B4-BE49-F238E27FC236}">
                <a16:creationId xmlns:a16="http://schemas.microsoft.com/office/drawing/2014/main" id="{95ECF1F0-7A90-9EB1-9FBA-1304814AAD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2975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005610B-85E6-A64F-4063-284680495F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20" name="Foliennummernplatzhalter 4">
            <a:extLst>
              <a:ext uri="{FF2B5EF4-FFF2-40B4-BE49-F238E27FC236}">
                <a16:creationId xmlns:a16="http://schemas.microsoft.com/office/drawing/2014/main" id="{D52AA5DE-D356-1E50-D05D-F5E71CCD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F32513-E0C3-F682-75B9-26B65988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D10E824B-3528-F8CC-5FFB-3A87CC1F18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9F09B648-8F2D-2F25-0CE6-B1E6F0FEFF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9B0EDDE-FC60-71DF-4610-6C7E8498E601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70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710624" y="4425115"/>
            <a:ext cx="1080986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710624" y="2437295"/>
            <a:ext cx="10786051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705826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701475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2624" y="4551795"/>
            <a:ext cx="10192126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3475" y="4989752"/>
            <a:ext cx="10186576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475" y="2986870"/>
            <a:ext cx="10201275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3475" y="2534474"/>
            <a:ext cx="10201275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3B323C9-E8CC-A337-4A93-166FB8259C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9" name="Foliennummernplatzhalter 4">
            <a:extLst>
              <a:ext uri="{FF2B5EF4-FFF2-40B4-BE49-F238E27FC236}">
                <a16:creationId xmlns:a16="http://schemas.microsoft.com/office/drawing/2014/main" id="{EF7BFD03-0F1F-2CE8-677D-9CB46DD2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869481-6AF3-3DF0-080D-B3616F4F6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0055FB3E-B9EE-AFAE-56E5-3A5A149A9F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149AB47-3747-A518-C42F-23736D74A9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B89AEDB-6DCD-6854-D177-3ED3594C994F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92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9D214575-EFD6-B053-9DB6-B270AEBFED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BAAFFCA8-6C08-CF69-5982-ED5CBC4A6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C837C79-D892-F510-6553-9A9FF2BA0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EA50777E-7E83-EB6D-861F-8E414E22DF1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810941B-76D4-F332-6505-DAF896DFB1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9FF193B-BB66-E51F-A9F5-C2D4424C7474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399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9E49E1A-7003-4CA7-B6B3-AF5B08189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97331" y="1987507"/>
            <a:ext cx="10801350" cy="4472992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81442B9A-23E1-4857-AD54-70B3C448BAFF}"/>
              </a:ext>
            </a:extLst>
          </p:cNvPr>
          <p:cNvSpPr>
            <a:spLocks noChangeAspect="1"/>
          </p:cNvSpPr>
          <p:nvPr userDrawn="1"/>
        </p:nvSpPr>
        <p:spPr>
          <a:xfrm>
            <a:off x="710624" y="1642974"/>
            <a:ext cx="10770752" cy="4472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DB58E8-0799-4ADD-9842-FB22AF810EB1}"/>
              </a:ext>
            </a:extLst>
          </p:cNvPr>
          <p:cNvSpPr txBox="1"/>
          <p:nvPr userDrawn="1"/>
        </p:nvSpPr>
        <p:spPr>
          <a:xfrm>
            <a:off x="1142911" y="2030996"/>
            <a:ext cx="85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cap="all" baseline="0">
                <a:solidFill>
                  <a:schemeClr val="bg1"/>
                </a:solidFill>
              </a:rPr>
              <a:t>OTH Regensburg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E963170-CC3F-4B7B-A43C-FBA26EAE0A46}"/>
              </a:ext>
            </a:extLst>
          </p:cNvPr>
          <p:cNvCxnSpPr>
            <a:cxnSpLocks/>
          </p:cNvCxnSpPr>
          <p:nvPr userDrawn="1"/>
        </p:nvCxnSpPr>
        <p:spPr>
          <a:xfrm>
            <a:off x="1314876" y="3981283"/>
            <a:ext cx="0" cy="15989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006D23E-43EA-49CC-B81F-F395BF7782C0}"/>
              </a:ext>
            </a:extLst>
          </p:cNvPr>
          <p:cNvSpPr txBox="1"/>
          <p:nvPr userDrawn="1"/>
        </p:nvSpPr>
        <p:spPr>
          <a:xfrm rot="16200000">
            <a:off x="-343425" y="4157606"/>
            <a:ext cx="3342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cap="all">
                <a:solidFill>
                  <a:schemeClr val="bg1"/>
                </a:solidFill>
              </a:rPr>
              <a:t>   Kontakt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70EEBAD6-CF66-459F-BEB4-801DC8B62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33674" y="2838819"/>
            <a:ext cx="4479529" cy="215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Optional:</a:t>
            </a:r>
            <a:br>
              <a:rPr lang="de-DE" dirty="0"/>
            </a:br>
            <a:r>
              <a:rPr lang="de-DE" dirty="0" err="1"/>
              <a:t>Ansprechpartner:in</a:t>
            </a:r>
            <a:r>
              <a:rPr lang="de-DE" dirty="0"/>
              <a:t>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74D429-EDD3-4B03-8E14-3D9851A95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4642725"/>
            <a:ext cx="324000" cy="350978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2387BD-6900-4367-983C-AB1978B6CF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91" y="3669011"/>
            <a:ext cx="432000" cy="467971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FD78A3E-8653-4EAC-9E2C-3E00D7E869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2803299"/>
            <a:ext cx="324000" cy="350978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66A0E902-529D-6DA1-01E0-2025FB75697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6" name="Foliennummernplatzhalter 4">
            <a:extLst>
              <a:ext uri="{FF2B5EF4-FFF2-40B4-BE49-F238E27FC236}">
                <a16:creationId xmlns:a16="http://schemas.microsoft.com/office/drawing/2014/main" id="{2E63D08A-E1A5-45B9-430F-A50934C23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AA45F2-28D0-B433-F4D9-4E17E6A3EAE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134D9865-83DE-46A7-374E-7C9375E6D49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A8262C2D-74B5-A454-40EA-E391A6D45C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59D7578-FE4C-24B5-4CA4-08C2FBEE69A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277" y="2777515"/>
            <a:ext cx="3566190" cy="4308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Telefonnummer einfügen</a:t>
            </a:r>
            <a:br>
              <a:rPr lang="de-DE" dirty="0"/>
            </a:br>
            <a:endParaRPr lang="de-DE" dirty="0"/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EF202E39-1D1A-B325-18A1-66B79F3EFC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99022" y="4565975"/>
            <a:ext cx="3566190" cy="85545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xxx@oth-regensburg.de</a:t>
            </a:r>
          </a:p>
          <a:p>
            <a:pPr lvl="0"/>
            <a:br>
              <a:rPr lang="de-DE" dirty="0"/>
            </a:br>
            <a:endParaRPr lang="de-DE" dirty="0"/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4C5A3DA5-58C7-C8EA-4E3B-B8DC601969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9022" y="3507636"/>
            <a:ext cx="3566190" cy="9192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Adresse einfügen</a:t>
            </a:r>
          </a:p>
          <a:p>
            <a:pPr lvl="0"/>
            <a:br>
              <a:rPr lang="de-DE" dirty="0"/>
            </a:br>
            <a:endParaRPr lang="de-DE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31D1246-F8AC-9C03-53FD-CED76677607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029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4FF401-9A06-2828-12CD-C4A5AC31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0B24C314-2307-DF2A-CD78-15559D1ED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0624" y="6517722"/>
            <a:ext cx="7908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Organisationseinheit | Autor | Name der Veranstaltung/Vorlesung</a:t>
            </a:r>
          </a:p>
        </p:txBody>
      </p:sp>
    </p:spTree>
    <p:extLst>
      <p:ext uri="{BB962C8B-B14F-4D97-AF65-F5344CB8AC3E}">
        <p14:creationId xmlns:p14="http://schemas.microsoft.com/office/powerpoint/2010/main" val="205520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1" r:id="rId2"/>
    <p:sldLayoutId id="2147483669" r:id="rId3"/>
    <p:sldLayoutId id="2147483660" r:id="rId4"/>
    <p:sldLayoutId id="2147483663" r:id="rId5"/>
    <p:sldLayoutId id="2147483676" r:id="rId6"/>
    <p:sldLayoutId id="2147483675" r:id="rId7"/>
    <p:sldLayoutId id="2147483673" r:id="rId8"/>
    <p:sldLayoutId id="2147483671" r:id="rId9"/>
    <p:sldLayoutId id="2147483678" r:id="rId10"/>
    <p:sldLayoutId id="2147483704" r:id="rId11"/>
    <p:sldLayoutId id="2147483679" r:id="rId12"/>
    <p:sldLayoutId id="2147483705" r:id="rId13"/>
    <p:sldLayoutId id="2147483680" r:id="rId14"/>
    <p:sldLayoutId id="2147483683" r:id="rId15"/>
    <p:sldLayoutId id="2147483706" r:id="rId16"/>
    <p:sldLayoutId id="2147483707" r:id="rId17"/>
    <p:sldLayoutId id="2147483708" r:id="rId18"/>
    <p:sldLayoutId id="2147483662" r:id="rId19"/>
    <p:sldLayoutId id="2147483665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42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4" pos="438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image" Target="../media/image21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0AD557D-0DB7-6AFC-EEF9-08E04F9257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5189" y="2499425"/>
            <a:ext cx="6342313" cy="1403350"/>
          </a:xfrm>
        </p:spPr>
        <p:txBody>
          <a:bodyPr>
            <a:normAutofit/>
          </a:bodyPr>
          <a:lstStyle/>
          <a:p>
            <a:r>
              <a:rPr lang="de-DE" dirty="0"/>
              <a:t>Projektstudium</a:t>
            </a:r>
          </a:p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D1AC3-E7EE-D587-2EC9-2F207B49F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EEB9C05E-AF44-8A5D-E096-3A1EBA4CA83A}"/>
              </a:ext>
            </a:extLst>
          </p:cNvPr>
          <p:cNvSpPr txBox="1">
            <a:spLocks/>
          </p:cNvSpPr>
          <p:nvPr/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Projektstudium | Gruppe C | Aumovio – Magazinlogistik SMT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278AA9-F7B7-F2E1-3D11-BEFC05EF5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3389"/>
            <a:ext cx="4798224" cy="2558428"/>
          </a:xfrm>
          <a:prstGeom prst="rect">
            <a:avLst/>
          </a:prstGeo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A11B91F-06A4-41A5-5448-3C0FB218740D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1" r="9281"/>
          <a:stretch>
            <a:fillRect/>
          </a:stretch>
        </p:blipFill>
        <p:spPr>
          <a:xfrm>
            <a:off x="1" y="2183389"/>
            <a:ext cx="4798224" cy="3136635"/>
          </a:xfrm>
          <a:prstGeom prst="rect">
            <a:avLst/>
          </a:prstGeom>
          <a:solidFill>
            <a:srgbClr val="F1F5F9"/>
          </a:solidFill>
        </p:spPr>
      </p:pic>
    </p:spTree>
    <p:extLst>
      <p:ext uri="{BB962C8B-B14F-4D97-AF65-F5344CB8AC3E}">
        <p14:creationId xmlns:p14="http://schemas.microsoft.com/office/powerpoint/2010/main" val="51833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CC73B7B-0808-3DA2-C3C7-62769BE2B3F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Projektstudium | Gruppe C | </a:t>
            </a:r>
            <a:r>
              <a:rPr lang="de-DE" dirty="0" err="1"/>
              <a:t>Aumovio</a:t>
            </a:r>
            <a:r>
              <a:rPr lang="de-DE" dirty="0"/>
              <a:t> – Magazinlogistik SMT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3B06CD-E072-AC5E-AF26-90FB087DB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71F3DD-300A-09C7-4F22-800802EA2C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Manuelle Magazinübergabe im Werk Regensburg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926D0B2-EF6E-4742-FA79-5ED00AEBB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Ausgangssituation bei AUMOVIO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ACA9149-7C87-4FCE-49B3-0B376B119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516" y="2323102"/>
            <a:ext cx="2163747" cy="288499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8657B88-2C10-BFA6-9E63-496E08388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37" t="33600" r="21318" b="39334"/>
          <a:stretch>
            <a:fillRect/>
          </a:stretch>
        </p:blipFill>
        <p:spPr>
          <a:xfrm>
            <a:off x="2063418" y="2323102"/>
            <a:ext cx="1523129" cy="2916936"/>
          </a:xfrm>
          <a:prstGeom prst="rect">
            <a:avLst/>
          </a:prstGeom>
        </p:spPr>
      </p:pic>
      <p:sp>
        <p:nvSpPr>
          <p:cNvPr id="10" name="Pfeil: nach links 9">
            <a:extLst>
              <a:ext uri="{FF2B5EF4-FFF2-40B4-BE49-F238E27FC236}">
                <a16:creationId xmlns:a16="http://schemas.microsoft.com/office/drawing/2014/main" id="{CD539D23-D490-A84B-D826-9BF62252A5FF}"/>
              </a:ext>
            </a:extLst>
          </p:cNvPr>
          <p:cNvSpPr/>
          <p:nvPr/>
        </p:nvSpPr>
        <p:spPr>
          <a:xfrm>
            <a:off x="3867912" y="3414718"/>
            <a:ext cx="1656255" cy="59436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 descr="Gruppe mit einfarbiger Füllung">
            <a:extLst>
              <a:ext uri="{FF2B5EF4-FFF2-40B4-BE49-F238E27FC236}">
                <a16:creationId xmlns:a16="http://schemas.microsoft.com/office/drawing/2014/main" id="{3F450BCE-A8F0-8930-8115-113186C17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4576" y="3189785"/>
            <a:ext cx="914400" cy="914400"/>
          </a:xfrm>
          <a:prstGeom prst="rect">
            <a:avLst/>
          </a:prstGeom>
        </p:spPr>
      </p:pic>
      <p:pic>
        <p:nvPicPr>
          <p:cNvPr id="14" name="Grafik 13" descr="Erhobene Hand mit einfarbiger Füllung">
            <a:extLst>
              <a:ext uri="{FF2B5EF4-FFF2-40B4-BE49-F238E27FC236}">
                <a16:creationId xmlns:a16="http://schemas.microsoft.com/office/drawing/2014/main" id="{083F1705-8EF9-0CC4-7FB9-31B9987929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614992" y="3330997"/>
            <a:ext cx="594361" cy="594361"/>
          </a:xfrm>
          <a:prstGeom prst="rect">
            <a:avLst/>
          </a:prstGeom>
        </p:spPr>
      </p:pic>
      <p:pic>
        <p:nvPicPr>
          <p:cNvPr id="16" name="Grafik 15" descr="Erhobene Hand mit einfarbiger Füllung">
            <a:extLst>
              <a:ext uri="{FF2B5EF4-FFF2-40B4-BE49-F238E27FC236}">
                <a16:creationId xmlns:a16="http://schemas.microsoft.com/office/drawing/2014/main" id="{9707800C-5663-4516-5F4A-63BF94535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973824" y="3330996"/>
            <a:ext cx="594361" cy="594361"/>
          </a:xfrm>
          <a:prstGeom prst="rect">
            <a:avLst/>
          </a:prstGeom>
        </p:spPr>
      </p:pic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064151F-4016-7446-0065-0BB26B4CE8F3}"/>
              </a:ext>
            </a:extLst>
          </p:cNvPr>
          <p:cNvCxnSpPr>
            <a:cxnSpLocks/>
          </p:cNvCxnSpPr>
          <p:nvPr/>
        </p:nvCxnSpPr>
        <p:spPr>
          <a:xfrm flipH="1" flipV="1">
            <a:off x="1347427" y="3121414"/>
            <a:ext cx="591101" cy="293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6FC762F8-1D88-775D-F270-123B8D16F293}"/>
              </a:ext>
            </a:extLst>
          </p:cNvPr>
          <p:cNvSpPr txBox="1"/>
          <p:nvPr/>
        </p:nvSpPr>
        <p:spPr>
          <a:xfrm>
            <a:off x="0" y="2505826"/>
            <a:ext cx="1523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4.000 Wagen</a:t>
            </a:r>
          </a:p>
          <a:p>
            <a:r>
              <a:rPr lang="de-DE" sz="1400" dirty="0"/>
              <a:t>-&gt;Änderungen</a:t>
            </a:r>
          </a:p>
          <a:p>
            <a:r>
              <a:rPr lang="de-DE" sz="1400" dirty="0"/>
              <a:t>teuer 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281378A-0D2F-0D29-3D2B-9511DC2EFC22}"/>
              </a:ext>
            </a:extLst>
          </p:cNvPr>
          <p:cNvSpPr txBox="1"/>
          <p:nvPr/>
        </p:nvSpPr>
        <p:spPr>
          <a:xfrm>
            <a:off x="9949232" y="2154934"/>
            <a:ext cx="21379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Beschädigungsrisiko</a:t>
            </a:r>
          </a:p>
          <a:p>
            <a:r>
              <a:rPr lang="de-DE" sz="1400" dirty="0"/>
              <a:t>-&gt; 1.500 bis 10.000 €</a:t>
            </a:r>
          </a:p>
          <a:p>
            <a:r>
              <a:rPr lang="de-DE" sz="1400" dirty="0"/>
              <a:t>pro Magazin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FDA1DB0-0820-1111-F82D-B59EA98AF7EE}"/>
              </a:ext>
            </a:extLst>
          </p:cNvPr>
          <p:cNvCxnSpPr>
            <a:cxnSpLocks/>
          </p:cNvCxnSpPr>
          <p:nvPr/>
        </p:nvCxnSpPr>
        <p:spPr>
          <a:xfrm flipV="1">
            <a:off x="9848088" y="2919962"/>
            <a:ext cx="539496" cy="549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7DD9C9A9-373A-7B9E-561F-F1AE047CC6C2}"/>
              </a:ext>
            </a:extLst>
          </p:cNvPr>
          <p:cNvCxnSpPr>
            <a:cxnSpLocks/>
          </p:cNvCxnSpPr>
          <p:nvPr/>
        </p:nvCxnSpPr>
        <p:spPr>
          <a:xfrm flipH="1">
            <a:off x="1347427" y="4007350"/>
            <a:ext cx="593205" cy="327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9C511C3B-F2FC-E675-E143-90FFB34A17F8}"/>
              </a:ext>
            </a:extLst>
          </p:cNvPr>
          <p:cNvSpPr txBox="1"/>
          <p:nvPr/>
        </p:nvSpPr>
        <p:spPr>
          <a:xfrm>
            <a:off x="26846" y="4171033"/>
            <a:ext cx="1523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max.</a:t>
            </a:r>
          </a:p>
          <a:p>
            <a:r>
              <a:rPr lang="de-DE" sz="1400" b="1" dirty="0"/>
              <a:t>4 Magazine</a:t>
            </a:r>
          </a:p>
          <a:p>
            <a:r>
              <a:rPr lang="de-DE" sz="1400" dirty="0"/>
              <a:t>pro Wagen</a:t>
            </a:r>
          </a:p>
        </p:txBody>
      </p:sp>
      <p:pic>
        <p:nvPicPr>
          <p:cNvPr id="37" name="Grafik 36" descr="Martinshorn mit einfarbiger Füllung">
            <a:extLst>
              <a:ext uri="{FF2B5EF4-FFF2-40B4-BE49-F238E27FC236}">
                <a16:creationId xmlns:a16="http://schemas.microsoft.com/office/drawing/2014/main" id="{A16455A5-2D47-41AE-366C-0449B7F49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2637" y="1640726"/>
            <a:ext cx="657927" cy="657927"/>
          </a:xfrm>
          <a:prstGeom prst="rect">
            <a:avLst/>
          </a:prstGeom>
        </p:spPr>
      </p:pic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4FBF9371-DB6E-E4FB-9A93-1657CCD68A17}"/>
              </a:ext>
            </a:extLst>
          </p:cNvPr>
          <p:cNvCxnSpPr>
            <a:cxnSpLocks/>
            <a:stCxn id="37" idx="1"/>
            <a:endCxn id="12" idx="0"/>
          </p:cNvCxnSpPr>
          <p:nvPr/>
        </p:nvCxnSpPr>
        <p:spPr>
          <a:xfrm rot="10800000" flipV="1">
            <a:off x="6581777" y="1969689"/>
            <a:ext cx="1700861" cy="12200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Beschriftung Wagen"/>
          <p:cNvSpPr txBox="1"/>
          <p:nvPr/>
        </p:nvSpPr>
        <p:spPr>
          <a:xfrm>
            <a:off x="1422400" y="5334000"/>
            <a:ext cx="2844800" cy="5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Magazinwagen</a:t>
            </a:r>
          </a:p>
          <a:p>
            <a:pPr algn="ctr"/>
            <a:r>
              <a:rPr lang="de-DE" sz="1400" b="0" dirty="0"/>
              <a:t>2 Ebenen, gefahren vom AGV</a:t>
            </a:r>
          </a:p>
        </p:txBody>
      </p:sp>
      <p:sp>
        <p:nvSpPr>
          <p:cNvPr id="41" name="Beschriftung Anlage"/>
          <p:cNvSpPr txBox="1"/>
          <p:nvPr/>
        </p:nvSpPr>
        <p:spPr>
          <a:xfrm>
            <a:off x="6908800" y="5334000"/>
            <a:ext cx="3556000" cy="5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SMT-Linienentlader</a:t>
            </a:r>
          </a:p>
          <a:p>
            <a:pPr algn="ctr"/>
            <a:r>
              <a:rPr lang="de-DE" sz="1400" b="0" dirty="0"/>
              <a:t>3 Magazinplätze, Signal bei „voll“</a:t>
            </a:r>
          </a:p>
        </p:txBody>
      </p:sp>
      <p:sp>
        <p:nvSpPr>
          <p:cNvPr id="42" name="Beschriftung Übergabe"/>
          <p:cNvSpPr txBox="1"/>
          <p:nvPr/>
        </p:nvSpPr>
        <p:spPr>
          <a:xfrm>
            <a:off x="4876800" y="4064000"/>
            <a:ext cx="2641600" cy="3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Übergabe heute manuell</a:t>
            </a:r>
          </a:p>
        </p:txBody>
      </p:sp>
    </p:spTree>
    <p:extLst>
      <p:ext uri="{BB962C8B-B14F-4D97-AF65-F5344CB8AC3E}">
        <p14:creationId xmlns:p14="http://schemas.microsoft.com/office/powerpoint/2010/main" val="185616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139B818-E130-2A6E-E489-0CBCC7675DA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Projektstudium | Gruppe C | </a:t>
            </a:r>
            <a:r>
              <a:rPr lang="de-DE" dirty="0" err="1"/>
              <a:t>Aumovio</a:t>
            </a:r>
            <a:r>
              <a:rPr lang="de-DE" dirty="0"/>
              <a:t> – Magazinlogistik SMT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73E82CB-C5CB-B272-0EF5-50784BC9E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3749FD-2E29-8EBA-6F31-8BD9B44F7F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Gesamtprozess: Weg der Magazinwagen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F06C638-5DE9-E423-EE0F-CB6424728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124" y="4372787"/>
            <a:ext cx="1518505" cy="202467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376CFD1-5AE8-22D2-BFAD-407E4DFA5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940" y="4746326"/>
            <a:ext cx="1149990" cy="153332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665E48F-3D45-8D42-8D36-088007A13F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583" y="4746326"/>
            <a:ext cx="1149991" cy="153332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243BF8B-7BA7-4D8F-FF70-DB982A2560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134" y="4746326"/>
            <a:ext cx="1149990" cy="153332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76F6769-C408-B99A-1596-0C9E87DF45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31" t="13104" r="19457" b="40784"/>
          <a:stretch>
            <a:fillRect/>
          </a:stretch>
        </p:blipFill>
        <p:spPr>
          <a:xfrm>
            <a:off x="6279097" y="799049"/>
            <a:ext cx="1677224" cy="201753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56F7AEAF-F67D-D3B0-95FE-B801C7B271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35" b="27288"/>
          <a:stretch>
            <a:fillRect/>
          </a:stretch>
        </p:blipFill>
        <p:spPr>
          <a:xfrm>
            <a:off x="3316159" y="637617"/>
            <a:ext cx="1597254" cy="2340395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37B0628E-02E3-8D61-142E-829FA63BEC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0" r="22797" b="40120"/>
          <a:stretch>
            <a:fillRect/>
          </a:stretch>
        </p:blipFill>
        <p:spPr>
          <a:xfrm>
            <a:off x="486388" y="4445450"/>
            <a:ext cx="1451551" cy="1856597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5E0F93E8-52EC-288F-40CE-4C4BD493C5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01" y="1313024"/>
            <a:ext cx="1518506" cy="2024675"/>
          </a:xfrm>
          <a:prstGeom prst="rect">
            <a:avLst/>
          </a:prstGeom>
        </p:spPr>
      </p:pic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78CBCB08-D3DE-B43B-28D0-F172CDA69707}"/>
              </a:ext>
            </a:extLst>
          </p:cNvPr>
          <p:cNvCxnSpPr>
            <a:stCxn id="9" idx="1"/>
            <a:endCxn id="37" idx="3"/>
          </p:cNvCxnSpPr>
          <p:nvPr/>
        </p:nvCxnSpPr>
        <p:spPr>
          <a:xfrm flipH="1" flipV="1">
            <a:off x="1937939" y="5373749"/>
            <a:ext cx="868185" cy="11375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0522EE74-7024-6072-C99C-B77D58BFE62D}"/>
              </a:ext>
            </a:extLst>
          </p:cNvPr>
          <p:cNvCxnSpPr>
            <a:cxnSpLocks/>
            <a:stCxn id="37" idx="0"/>
            <a:endCxn id="39" idx="2"/>
          </p:cNvCxnSpPr>
          <p:nvPr/>
        </p:nvCxnSpPr>
        <p:spPr>
          <a:xfrm flipH="1" flipV="1">
            <a:off x="1209954" y="3337699"/>
            <a:ext cx="2210" cy="1107751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CF1E99A0-7EFC-347D-3783-A85B5BB63CC3}"/>
              </a:ext>
            </a:extLst>
          </p:cNvPr>
          <p:cNvCxnSpPr>
            <a:cxnSpLocks/>
            <a:stCxn id="39" idx="3"/>
            <a:endCxn id="33" idx="1"/>
          </p:cNvCxnSpPr>
          <p:nvPr/>
        </p:nvCxnSpPr>
        <p:spPr>
          <a:xfrm flipV="1">
            <a:off x="1969207" y="1807815"/>
            <a:ext cx="1346952" cy="517547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35442B85-5645-C469-D511-897C4932454B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 flipV="1">
            <a:off x="4913413" y="1807814"/>
            <a:ext cx="1365684" cy="1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FD649BC2-5B60-E94D-1AB4-492F67AE70EA}"/>
              </a:ext>
            </a:extLst>
          </p:cNvPr>
          <p:cNvSpPr txBox="1"/>
          <p:nvPr/>
        </p:nvSpPr>
        <p:spPr>
          <a:xfrm>
            <a:off x="9553575" y="1296746"/>
            <a:ext cx="1533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Backend</a:t>
            </a:r>
            <a:endParaRPr lang="de-DE" b="1" dirty="0"/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A3BDE852-150B-BCF7-80BE-7EC85C6AA924}"/>
              </a:ext>
            </a:extLst>
          </p:cNvPr>
          <p:cNvCxnSpPr>
            <a:cxnSpLocks/>
            <a:stCxn id="27" idx="3"/>
            <a:endCxn id="53" idx="1"/>
          </p:cNvCxnSpPr>
          <p:nvPr/>
        </p:nvCxnSpPr>
        <p:spPr>
          <a:xfrm flipV="1">
            <a:off x="7956321" y="1527579"/>
            <a:ext cx="1597254" cy="280235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fik 68">
            <a:extLst>
              <a:ext uri="{FF2B5EF4-FFF2-40B4-BE49-F238E27FC236}">
                <a16:creationId xmlns:a16="http://schemas.microsoft.com/office/drawing/2014/main" id="{372D97E2-83D1-AC73-F436-D4D4C6776B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9102" r="22335" b="40000"/>
          <a:stretch>
            <a:fillRect/>
          </a:stretch>
        </p:blipFill>
        <p:spPr>
          <a:xfrm>
            <a:off x="9036992" y="2147377"/>
            <a:ext cx="777896" cy="1533320"/>
          </a:xfrm>
          <a:prstGeom prst="rect">
            <a:avLst/>
          </a:prstGeom>
        </p:spPr>
      </p:pic>
      <p:cxnSp>
        <p:nvCxnSpPr>
          <p:cNvPr id="72" name="Verbinder: gewinkelt 71">
            <a:extLst>
              <a:ext uri="{FF2B5EF4-FFF2-40B4-BE49-F238E27FC236}">
                <a16:creationId xmlns:a16="http://schemas.microsoft.com/office/drawing/2014/main" id="{EE36E826-AAFD-D4C2-0930-85F6F36EB565}"/>
              </a:ext>
            </a:extLst>
          </p:cNvPr>
          <p:cNvCxnSpPr>
            <a:stCxn id="53" idx="2"/>
            <a:endCxn id="69" idx="3"/>
          </p:cNvCxnSpPr>
          <p:nvPr/>
        </p:nvCxnSpPr>
        <p:spPr>
          <a:xfrm rot="5400000">
            <a:off x="9489800" y="2083499"/>
            <a:ext cx="1155626" cy="505450"/>
          </a:xfrm>
          <a:prstGeom prst="bentConnector2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8BEE8F1A-E9E4-6F23-4A0C-DDA21E8A816E}"/>
              </a:ext>
            </a:extLst>
          </p:cNvPr>
          <p:cNvCxnSpPr>
            <a:cxnSpLocks/>
            <a:stCxn id="69" idx="1"/>
            <a:endCxn id="13" idx="0"/>
          </p:cNvCxnSpPr>
          <p:nvPr/>
        </p:nvCxnSpPr>
        <p:spPr>
          <a:xfrm rot="10800000" flipV="1">
            <a:off x="6399580" y="2914036"/>
            <a:ext cx="2637413" cy="1832289"/>
          </a:xfrm>
          <a:prstGeom prst="bentConnector2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Verbinder: gewinkelt 75">
            <a:extLst>
              <a:ext uri="{FF2B5EF4-FFF2-40B4-BE49-F238E27FC236}">
                <a16:creationId xmlns:a16="http://schemas.microsoft.com/office/drawing/2014/main" id="{E9EEE048-81FF-47F8-F0CF-0E66ED46DE54}"/>
              </a:ext>
            </a:extLst>
          </p:cNvPr>
          <p:cNvCxnSpPr>
            <a:cxnSpLocks/>
            <a:stCxn id="69" idx="1"/>
            <a:endCxn id="15" idx="0"/>
          </p:cNvCxnSpPr>
          <p:nvPr/>
        </p:nvCxnSpPr>
        <p:spPr>
          <a:xfrm rot="10800000" flipV="1">
            <a:off x="8177130" y="2914036"/>
            <a:ext cx="859863" cy="1832289"/>
          </a:xfrm>
          <a:prstGeom prst="bentConnector2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26CE58B2-21B3-5912-BA68-F04CBDB96C1F}"/>
              </a:ext>
            </a:extLst>
          </p:cNvPr>
          <p:cNvCxnSpPr>
            <a:cxnSpLocks/>
            <a:stCxn id="69" idx="1"/>
            <a:endCxn id="11" idx="0"/>
          </p:cNvCxnSpPr>
          <p:nvPr/>
        </p:nvCxnSpPr>
        <p:spPr>
          <a:xfrm rot="10800000" flipH="1" flipV="1">
            <a:off x="9036991" y="2914036"/>
            <a:ext cx="963943" cy="1832289"/>
          </a:xfrm>
          <a:prstGeom prst="bentConnector4">
            <a:avLst>
              <a:gd name="adj1" fmla="val -23715"/>
              <a:gd name="adj2" fmla="val 70921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Verbinder: gewinkelt 81">
            <a:extLst>
              <a:ext uri="{FF2B5EF4-FFF2-40B4-BE49-F238E27FC236}">
                <a16:creationId xmlns:a16="http://schemas.microsoft.com/office/drawing/2014/main" id="{51BF4787-EBD3-A768-8462-412CEC15C34B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rot="5400000" flipH="1">
            <a:off x="4914843" y="4794910"/>
            <a:ext cx="894522" cy="2074950"/>
          </a:xfrm>
          <a:prstGeom prst="bentConnector4">
            <a:avLst>
              <a:gd name="adj1" fmla="val -25556"/>
              <a:gd name="adj2" fmla="val 63856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Verbinder: gewinkelt 84">
            <a:extLst>
              <a:ext uri="{FF2B5EF4-FFF2-40B4-BE49-F238E27FC236}">
                <a16:creationId xmlns:a16="http://schemas.microsoft.com/office/drawing/2014/main" id="{AC003E34-9D17-D576-2D11-A4C826AB98E4}"/>
              </a:ext>
            </a:extLst>
          </p:cNvPr>
          <p:cNvCxnSpPr>
            <a:cxnSpLocks/>
            <a:stCxn id="15" idx="2"/>
            <a:endCxn id="9" idx="3"/>
          </p:cNvCxnSpPr>
          <p:nvPr/>
        </p:nvCxnSpPr>
        <p:spPr>
          <a:xfrm rot="5400000" flipH="1">
            <a:off x="5803618" y="3906135"/>
            <a:ext cx="894522" cy="3852500"/>
          </a:xfrm>
          <a:prstGeom prst="bentConnector4">
            <a:avLst>
              <a:gd name="adj1" fmla="val -25556"/>
              <a:gd name="adj2" fmla="val 80209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Verbinder: gewinkelt 89">
            <a:extLst>
              <a:ext uri="{FF2B5EF4-FFF2-40B4-BE49-F238E27FC236}">
                <a16:creationId xmlns:a16="http://schemas.microsoft.com/office/drawing/2014/main" id="{AF479748-9943-D714-DBE9-43195E9FB158}"/>
              </a:ext>
            </a:extLst>
          </p:cNvPr>
          <p:cNvCxnSpPr>
            <a:cxnSpLocks/>
            <a:stCxn id="11" idx="2"/>
            <a:endCxn id="9" idx="3"/>
          </p:cNvCxnSpPr>
          <p:nvPr/>
        </p:nvCxnSpPr>
        <p:spPr>
          <a:xfrm rot="5400000" flipH="1">
            <a:off x="6715521" y="2994232"/>
            <a:ext cx="894522" cy="5676306"/>
          </a:xfrm>
          <a:prstGeom prst="bentConnector4">
            <a:avLst>
              <a:gd name="adj1" fmla="val -25556"/>
              <a:gd name="adj2" fmla="val 86780"/>
            </a:avLst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501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Aufgabenstellung und Problemverständnis</a:t>
            </a:r>
          </a:p>
        </p:txBody>
      </p:sp>
      <p:sp>
        <p:nvSpPr>
          <p:cNvPr id="3" name="Unterüberschrift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Übergabe der Magazine automatisieren und Puffer planen</a:t>
            </a:r>
          </a:p>
        </p:txBody>
      </p:sp>
      <p:sp>
        <p:nvSpPr>
          <p:cNvPr id="4" name="Überschrift Aufgabe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Problem 1: Übergabe</a:t>
            </a:r>
          </a:p>
        </p:txBody>
      </p:sp>
      <p:sp>
        <p:nvSpPr>
          <p:cNvPr id="5" name="Text Aufgabe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de-DE" sz="1500" dirty="0"/>
              <a:t>SMT-Linienentlader füllt Magazine am Linienende, Signal bei „voll“ oder Losende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de-DE" sz="1500" dirty="0"/>
              <a:t>Mitarbeiter räumen die Magazine in den Wagen (max. 4, 2 Ebenen) und setzen sie am Ziel wieder ein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de-DE" sz="1500" dirty="0"/>
              <a:t>AGV fährt nur den langen Weg, HVT-Roboter schaffen nur 1 Magazin pro Fahrt</a:t>
            </a:r>
          </a:p>
        </p:txBody>
      </p:sp>
      <p:sp>
        <p:nvSpPr>
          <p:cNvPr id="6" name="Überschrift Problem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Problem 2: Puffer</a:t>
            </a:r>
          </a:p>
        </p:txBody>
      </p:sp>
      <p:sp>
        <p:nvSpPr>
          <p:cNvPr id="7" name="Text Problem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de-DE" sz="1500" dirty="0"/>
              <a:t>SMT-Fertigung und nächster Prozess laufen zeitlich auseinander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de-DE" sz="1500" dirty="0"/>
              <a:t>Offen: Menge, Wartezeit und Zuordnung (welche Baugruppe wo, wohin als Nächstes)</a:t>
            </a:r>
          </a:p>
        </p:txBody>
      </p:sp>
      <p:sp>
        <p:nvSpPr>
          <p:cNvPr id="8" name="Überschrift Rahmenbedingungen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Rahmenbedingungen</a:t>
            </a:r>
          </a:p>
        </p:txBody>
      </p:sp>
      <p:sp>
        <p:nvSpPr>
          <p:cNvPr id="9" name="Text Rahmenbedingungen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de-DE" sz="1500" dirty="0"/>
              <a:t>Ca. 4.000 Wagen und AGV möglichst nicht umbauen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de-DE" sz="1500" dirty="0"/>
              <a:t>Schaden 1.500 bis 10.000 € pro Magazin, Genauigkeit 5 mm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de-DE" sz="1500" dirty="0"/>
              <a:t>Variabel: 2 bis 4 Magazine pro Wagen, Magazin leer, teilweise oder ganz gefüllt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lang="de-DE" sz="1500" dirty="0"/>
              <a:t>Roboter dürfen sich nicht blockieren</a:t>
            </a:r>
          </a:p>
        </p:txBody>
      </p:sp>
      <p:sp>
        <p:nvSpPr>
          <p:cNvPr id="10" name="Fußzeile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Projektstudium | Gruppe C | Aumovio – Magazinlogistik SMT</a:t>
            </a:r>
          </a:p>
        </p:txBody>
      </p:sp>
      <p:sp>
        <p:nvSpPr>
          <p:cNvPr id="11" name="Foliennummer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/>
              <a:pPr/>
              <a:t>4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TH Regensburg">
      <a:dk1>
        <a:sysClr val="windowText" lastClr="000000"/>
      </a:dk1>
      <a:lt1>
        <a:sysClr val="window" lastClr="FFFFFF"/>
      </a:lt1>
      <a:dk2>
        <a:srgbClr val="9D9D9C"/>
      </a:dk2>
      <a:lt2>
        <a:srgbClr val="F1F5F9"/>
      </a:lt2>
      <a:accent1>
        <a:srgbClr val="000000"/>
      </a:accent1>
      <a:accent2>
        <a:srgbClr val="FFFFFF"/>
      </a:accent2>
      <a:accent3>
        <a:srgbClr val="9D9D9C"/>
      </a:accent3>
      <a:accent4>
        <a:srgbClr val="F1F5F9"/>
      </a:accent4>
      <a:accent5>
        <a:srgbClr val="CBD5E1"/>
      </a:accent5>
      <a:accent6>
        <a:srgbClr val="164194"/>
      </a:accent6>
      <a:hlink>
        <a:srgbClr val="0563C1"/>
      </a:hlink>
      <a:folHlink>
        <a:srgbClr val="954F72"/>
      </a:folHlink>
    </a:clrScheme>
    <a:fontScheme name="OTH Regensburg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2122D5DF3E7384394A6965D22B98D58" ma:contentTypeVersion="26" ma:contentTypeDescription="Ein neues Dokument erstellen." ma:contentTypeScope="" ma:versionID="a389e33b4de7f8bc3fe39f713021f3d9">
  <xsd:schema xmlns:xsd="http://www.w3.org/2001/XMLSchema" xmlns:xs="http://www.w3.org/2001/XMLSchema" xmlns:p="http://schemas.microsoft.com/office/2006/metadata/properties" xmlns:ns1="f6fd5e78-b8f3-4cb0-91f9-df1f4af60ed7" xmlns:ns3="7a12b140-0691-4f70-b58e-f168b3d46def" xmlns:ns4="http://schemas.microsoft.com/sharepoint/v4" targetNamespace="http://schemas.microsoft.com/office/2006/metadata/properties" ma:root="true" ma:fieldsID="82a71c01432307cd47f3d05e69875b37" ns1:_="" ns3:_="" ns4:_="">
    <xsd:import namespace="f6fd5e78-b8f3-4cb0-91f9-df1f4af60ed7"/>
    <xsd:import namespace="7a12b140-0691-4f70-b58e-f168b3d46de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Dokumentenart0" minOccurs="0"/>
                <xsd:element ref="ns1:Verantwortlich" minOccurs="0"/>
                <xsd:element ref="ns1:Dokumentenart" minOccurs="0"/>
                <xsd:element ref="ns1:Bezeichnung" minOccurs="0"/>
                <xsd:element ref="ns1:Ausgabedatum" minOccurs="0"/>
                <xsd:element ref="ns1:G_x00fc_ltig_x0020_bis" minOccurs="0"/>
                <xsd:element ref="ns1:Ersteller" minOccurs="0"/>
                <xsd:element ref="ns1:Pr_x00fc_fer" minOccurs="0"/>
                <xsd:element ref="ns1:Freigeber" minOccurs="0"/>
                <xsd:element ref="ns3:_dlc_DocId" minOccurs="0"/>
                <xsd:element ref="ns3:_dlc_DocIdUrl" minOccurs="0"/>
                <xsd:element ref="ns3:_dlc_DocIdPersistId" minOccurs="0"/>
                <xsd:element ref="ns4:IconOverlay" minOccurs="0"/>
                <xsd:element ref="ns1:Gruppe_x0020_Studierende" minOccurs="0"/>
                <xsd:element ref="ns1:SharedWithUsers" minOccurs="0"/>
                <xsd:element ref="ns1:SharedWithDetails" minOccurs="0"/>
                <xsd:element ref="ns1:MediaServiceMetadata" minOccurs="0"/>
                <xsd:element ref="ns1:MediaServiceFastMetadata" minOccurs="0"/>
                <xsd:element ref="ns1:MediaServiceSearchProperties" minOccurs="0"/>
                <xsd:element ref="ns1:MediaServiceGenerationTime" minOccurs="0"/>
                <xsd:element ref="ns1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fd5e78-b8f3-4cb0-91f9-df1f4af60ed7" elementFormDefault="qualified">
    <xsd:import namespace="http://schemas.microsoft.com/office/2006/documentManagement/types"/>
    <xsd:import namespace="http://schemas.microsoft.com/office/infopath/2007/PartnerControls"/>
    <xsd:element name="Dokumentenart0" ma:index="0" nillable="true" ma:displayName="Dokumentenart" ma:format="Dropdown" ma:internalName="Dokumentenart0" ma:readOnly="false">
      <xsd:simpleType>
        <xsd:restriction base="dms:Choice">
          <xsd:enumeration value="Allgemeine Information"/>
          <xsd:enumeration value="Dienstvereinbarungen"/>
          <xsd:enumeration value="Externe Vorgaben"/>
          <xsd:enumeration value="Externer Links"/>
          <xsd:enumeration value="Formulare"/>
          <xsd:enumeration value="Richtlinien"/>
          <xsd:enumeration value="Satzungen"/>
        </xsd:restriction>
      </xsd:simpleType>
    </xsd:element>
    <xsd:element name="Verantwortlich" ma:index="1" nillable="true" ma:displayName="Verantwortlich" ma:format="Dropdown" ma:internalName="Verantwortlich" ma:readOnly="false">
      <xsd:simpleType>
        <xsd:restriction base="dms:Choice">
          <xsd:enumeration value="Abt. I"/>
          <xsd:enumeration value="Abt. II"/>
          <xsd:enumeration value="Abt. III"/>
          <xsd:enumeration value="Abt. IV"/>
          <xsd:enumeration value="Bib"/>
          <xsd:enumeration value="Fam"/>
          <xsd:enumeration value="FM"/>
          <xsd:enumeration value="GuV"/>
          <xsd:enumeration value="GZ"/>
          <xsd:enumeration value="HL"/>
          <xsd:enumeration value="IO"/>
          <xsd:enumeration value="ITZ"/>
          <xsd:enumeration value="Kom"/>
          <xsd:enumeration value="LuD"/>
          <xsd:enumeration value="NH"/>
          <xsd:enumeration value="PA"/>
          <xsd:enumeration value="QuO"/>
          <xsd:enumeration value="Recht"/>
          <xsd:enumeration value="SE"/>
          <xsd:enumeration value="SenV"/>
          <xsd:enumeration value="SLC"/>
          <xsd:enumeration value="WFKM"/>
          <xsd:enumeration value="ZFT"/>
          <xsd:enumeration value="ZiL"/>
          <xsd:enumeration value="ZWW"/>
        </xsd:restriction>
      </xsd:simpleType>
    </xsd:element>
    <xsd:element name="Dokumentenart" ma:index="2" nillable="true" ma:displayName="Ordnerzuordnung" ma:format="Dropdown" ma:internalName="Dokumentenart" ma:readOnly="false">
      <xsd:simpleType>
        <xsd:restriction base="dms:Choice">
          <xsd:enumeration value="Hochschulsteuerung"/>
          <xsd:enumeration value="Nachhaltigkeit"/>
          <xsd:enumeration value="Profil und Kennzahlen"/>
          <xsd:enumeration value="Gremien und Beauftragte"/>
          <xsd:enumeration value="Qualitätsmanagement"/>
          <xsd:enumeration value="Studium und Lehre"/>
          <xsd:enumeration value="Forschung"/>
          <xsd:enumeration value="Internationales Bedienstete"/>
          <xsd:enumeration value="Personal"/>
          <xsd:enumeration value="Berufungsverfahren"/>
          <xsd:enumeration value="Finanzen"/>
          <xsd:enumeration value="Gebäude und Technik"/>
          <xsd:enumeration value="Kommunikation"/>
          <xsd:enumeration value="Bibliothek"/>
          <xsd:enumeration value="Sicherheit"/>
          <xsd:enumeration value="Datenschutz und Informationssicherheit"/>
          <xsd:enumeration value="Korruptionsvorsorge"/>
          <xsd:enumeration value="Innenrevision"/>
          <xsd:enumeration value="IT-Zentrum"/>
          <xsd:enumeration value="Hochschulwahl"/>
        </xsd:restriction>
      </xsd:simpleType>
    </xsd:element>
    <xsd:element name="Bezeichnung" ma:index="4" nillable="true" ma:displayName="Bezeichnung" ma:internalName="Bezeichnung" ma:readOnly="false">
      <xsd:simpleType>
        <xsd:restriction base="dms:Text">
          <xsd:maxLength value="255"/>
        </xsd:restriction>
      </xsd:simpleType>
    </xsd:element>
    <xsd:element name="Ausgabedatum" ma:index="6" nillable="true" ma:displayName="Ausgabedatum" ma:format="DateOnly" ma:internalName="Ausgabedatum" ma:readOnly="false">
      <xsd:simpleType>
        <xsd:restriction base="dms:DateTime"/>
      </xsd:simpleType>
    </xsd:element>
    <xsd:element name="G_x00fc_ltig_x0020_bis" ma:index="7" nillable="true" ma:displayName="Gültig bis" ma:format="DateOnly" ma:internalName="G_x00fc_ltig_x0020_bis" ma:readOnly="false">
      <xsd:simpleType>
        <xsd:restriction base="dms:DateTime"/>
      </xsd:simpleType>
    </xsd:element>
    <xsd:element name="Ersteller" ma:index="8" nillable="true" ma:displayName="Erstellung" ma:list="UserInfo" ma:internalName="Erstell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r_x00fc_fer" ma:index="9" nillable="true" ma:displayName="Prüfung" ma:list="UserInfo" ma:internalName="Pr_x00fc_f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reigeber" ma:index="10" nillable="true" ma:displayName="Freigabe" ma:list="UserInfo" ma:internalName="Freigeb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Gruppe_x0020_Studierende" ma:index="21" nillable="true" ma:displayName="Gruppe Studierende" ma:format="RadioButtons" ma:internalName="Gruppe_x0020_Studierende" ma:readOnly="false">
      <xsd:simpleType>
        <xsd:restriction base="dms:Choice">
          <xsd:enumeration value="Ja"/>
          <xsd:enumeration value="Nein"/>
        </xsd:restriction>
      </xsd:simpleType>
    </xsd:element>
    <xsd:element name="SharedWithUsers" ma:index="22" nillable="true" ma:displayName="Freigegeben für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false">
      <xsd:simpleType>
        <xsd:restriction base="dms:Note">
          <xsd:maxLength value="255"/>
        </xsd:restriction>
      </xsd:simpleType>
    </xsd:element>
    <xsd:element name="MediaServiceMetadata" ma:index="2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12b140-0691-4f70-b58e-f168b3d46def" elementFormDefault="qualified">
    <xsd:import namespace="http://schemas.microsoft.com/office/2006/documentManagement/types"/>
    <xsd:import namespace="http://schemas.microsoft.com/office/infopath/2007/PartnerControls"/>
    <xsd:element name="_dlc_DocId" ma:index="13" nillable="true" ma:displayName="Wert der Dokument-ID" ma:description="Der Wert der diesem Element zugewiesenen Dokument-ID." ma:indexed="true" ma:internalName="_dlc_DocId" ma:readOnly="true">
      <xsd:simpleType>
        <xsd:restriction base="dms:Text"/>
      </xsd:simpleType>
    </xsd:element>
    <xsd:element name="_dlc_DocIdUrl" ma:index="14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5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internalName="IconOverlay" ma:readOnly="fals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2" ma:displayName="Inhaltstyp"/>
        <xsd:element ref="dc:title" minOccurs="0" maxOccurs="1" ma:index="3" ma:displayName="Thema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Gruppe_x0020_Studierende xmlns="f6fd5e78-b8f3-4cb0-91f9-df1f4af60ed7">Ja</Gruppe_x0020_Studierende>
    <Pr_x00fc_fer xmlns="f6fd5e78-b8f3-4cb0-91f9-df1f4af60ed7">
      <UserInfo>
        <DisplayName>Alisa Weinhold</DisplayName>
        <AccountId>294</AccountId>
        <AccountType/>
      </UserInfo>
    </Pr_x00fc_fer>
    <Freigeber xmlns="f6fd5e78-b8f3-4cb0-91f9-df1f4af60ed7">
      <UserInfo>
        <DisplayName>Alisa Weinhold</DisplayName>
        <AccountId>294</AccountId>
        <AccountType/>
      </UserInfo>
    </Freigeber>
    <Bezeichnung xmlns="f6fd5e78-b8f3-4cb0-91f9-df1f4af60ed7">Hochschulpräsentation OTH Regensburg</Bezeichnung>
    <Dokumentenart0 xmlns="f6fd5e78-b8f3-4cb0-91f9-df1f4af60ed7">Allgemeine Information</Dokumentenart0>
    <Ersteller xmlns="f6fd5e78-b8f3-4cb0-91f9-df1f4af60ed7">
      <UserInfo>
        <DisplayName>Guelay Sahil</DisplayName>
        <AccountId>439</AccountId>
        <AccountType/>
      </UserInfo>
    </Ersteller>
    <Ausgabedatum xmlns="f6fd5e78-b8f3-4cb0-91f9-df1f4af60ed7">2026-05-10T22:00:00+00:00</Ausgabedatum>
    <G_x00fc_ltig_x0020_bis xmlns="f6fd5e78-b8f3-4cb0-91f9-df1f4af60ed7">2028-05-10T22:00:00+00:00</G_x00fc_ltig_x0020_bis>
    <Verantwortlich xmlns="f6fd5e78-b8f3-4cb0-91f9-df1f4af60ed7">Kom</Verantwortlich>
    <Dokumentenart xmlns="f6fd5e78-b8f3-4cb0-91f9-df1f4af60ed7">Kommunikation</Dokumentenart>
    <_dlc_DocId xmlns="7a12b140-0691-4f70-b58e-f168b3d46def">MJAR55X3VR3P-1995469596-877</_dlc_DocId>
    <_dlc_DocIdUrl xmlns="7a12b140-0691-4f70-b58e-f168b3d46def">
      <Url>https://sp.hs-regensburg.de/QuO/QuD-Portal/_layouts/15/DocIdRedir.aspx?ID=MJAR55X3VR3P-1995469596-877</Url>
      <Description>MJAR55X3VR3P-1995469596-877</Description>
    </_dlc_DocIdUrl>
    <SharedWithDetails xmlns="f6fd5e78-b8f3-4cb0-91f9-df1f4af60ed7" xsi:nil="true"/>
    <SharedWithUsers xmlns="f6fd5e78-b8f3-4cb0-91f9-df1f4af60ed7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0FAB076-A24B-4FEE-B61B-F664AF5D29D2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6EDF356B-A5CD-4962-9955-AA824DF37F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095A17-A9B8-4DEE-A6F5-44605B3F5A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fd5e78-b8f3-4cb0-91f9-df1f4af60ed7"/>
    <ds:schemaRef ds:uri="7a12b140-0691-4f70-b58e-f168b3d46de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2356504-F539-424F-9E83-9400624CC88E}">
  <ds:schemaRefs>
    <ds:schemaRef ds:uri="http://purl.org/dc/elements/1.1/"/>
    <ds:schemaRef ds:uri="60ae07f9-c710-4147-a4bb-ffce3af5c857"/>
    <ds:schemaRef ds:uri="http://schemas.microsoft.com/sharepoint/v4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b4925834-f9db-4428-ab6a-226ee0e4aea1"/>
    <ds:schemaRef ds:uri="44449387-be1d-4a23-a037-6363c2cb9483"/>
    <ds:schemaRef ds:uri="http://purl.org/dc/dcmitype/"/>
    <ds:schemaRef ds:uri="f6fd5e78-b8f3-4cb0-91f9-df1f4af60ed7"/>
    <ds:schemaRef ds:uri="7a12b140-0691-4f70-b58e-f168b3d46de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226</Words>
  <Application>Microsoft Macintosh PowerPoint</Application>
  <PresentationFormat>Widescreen</PresentationFormat>
  <Paragraphs>42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Lucida Sans</vt:lpstr>
      <vt:lpstr>Office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</dc:title>
  <dc:creator>Julia Pusch</dc:creator>
  <cp:lastModifiedBy>Andreas Wasner</cp:lastModifiedBy>
  <cp:revision>68</cp:revision>
  <dcterms:created xsi:type="dcterms:W3CDTF">2023-07-23T18:15:39Z</dcterms:created>
  <dcterms:modified xsi:type="dcterms:W3CDTF">2026-10-15T17:17:31Z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0x010100A2122D5DF3E7384394A6965D22B98D58</vt:lpwstr>
  </property>
  <property fmtid="{D5CDD505-2E9C-101B-9397-08002B2CF9AE}" pid="3" name="MediaServiceImageTags">
    <vt:lpwstr/>
  </property>
  <property fmtid="{D5CDD505-2E9C-101B-9397-08002B2CF9AE}" pid="4" name="_dlc_DocIdItemGuid">
    <vt:lpwstr>9b3a7489-8eca-4384-a840-131c6d7afcf1</vt:lpwstr>
  </property>
  <property fmtid="{D5CDD505-2E9C-101B-9397-08002B2CF9AE}" pid="5" name="Prüfung">
    <vt:lpwstr>68</vt:lpwstr>
  </property>
  <property fmtid="{D5CDD505-2E9C-101B-9397-08002B2CF9AE}" pid="6" name="Erstellung">
    <vt:lpwstr>72</vt:lpwstr>
  </property>
  <property fmtid="{D5CDD505-2E9C-101B-9397-08002B2CF9AE}" pid="7" name="Ordnerzuordnung">
    <vt:lpwstr>Kommunikation</vt:lpwstr>
  </property>
  <property fmtid="{D5CDD505-2E9C-101B-9397-08002B2CF9AE}" pid="8" name="Wert der Dokument-ID">
    <vt:lpwstr>MJAR55X3VR3P-1995469596-877</vt:lpwstr>
  </property>
  <property fmtid="{D5CDD505-2E9C-101B-9397-08002B2CF9AE}" pid="9" name="Freigabe">
    <vt:lpwstr>68</vt:lpwstr>
  </property>
  <property fmtid="{D5CDD505-2E9C-101B-9397-08002B2CF9AE}" pid="10" name="Thema">
    <vt:lpwstr>Vorlage</vt:lpwstr>
  </property>
  <property fmtid="{D5CDD505-2E9C-101B-9397-08002B2CF9AE}" pid="11" name="Automatische-DNR-Vergabe">
    <vt:lpwstr>https://othrgb.sharepoint.com/sites/sps_quo/QuD-Portal/_layouts/15/wrkstat.aspx?list=60ae07f9-c710-4147-a4bb-ffce3af5c857&amp;workflowinstancename=7fa47e2f-ff6c-486f-ae26-8019bf8eda4c, Stufe 1</vt:lpwstr>
  </property>
  <property fmtid="{D5CDD505-2E9C-101B-9397-08002B2CF9AE}" pid="12" name="D-Nr">
    <vt:lpwstr>877</vt:lpwstr>
  </property>
</Properties>
</file>